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6"/>
  </p:notesMasterIdLst>
  <p:sldIdLst>
    <p:sldId id="257" r:id="rId3"/>
    <p:sldId id="258" r:id="rId4"/>
    <p:sldId id="259" r:id="rId5"/>
    <p:sldId id="270" r:id="rId6"/>
    <p:sldId id="260" r:id="rId7"/>
    <p:sldId id="261" r:id="rId8"/>
    <p:sldId id="262" r:id="rId9"/>
    <p:sldId id="264" r:id="rId10"/>
    <p:sldId id="265" r:id="rId11"/>
    <p:sldId id="271" r:id="rId12"/>
    <p:sldId id="266" r:id="rId13"/>
    <p:sldId id="267" r:id="rId14"/>
    <p:sldId id="269" r:id="rId15"/>
  </p:sldIdLst>
  <p:sldSz cx="9144000" cy="5143500" type="screen16x9"/>
  <p:notesSz cx="6858000" cy="9144000"/>
  <p:embeddedFontLst>
    <p:embeddedFont>
      <p:font typeface="Google Sans"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F1B07-BF3A-4638-A187-269EE6AD31BC}" v="2" dt="2026-02-14T17:08:51.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3" d="100"/>
          <a:sy n="103" d="100"/>
        </p:scale>
        <p:origin x="89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hvik Goud Mushkam" userId="cf6f2cd1d37e7575" providerId="LiveId" clId="{5D4E4D88-3F70-44ED-9AD7-40354431CA08}"/>
    <pc:docChg chg="modSld">
      <pc:chgData name="Rithvik Goud Mushkam" userId="cf6f2cd1d37e7575" providerId="LiveId" clId="{5D4E4D88-3F70-44ED-9AD7-40354431CA08}" dt="2026-02-14T17:08:13.166" v="0"/>
      <pc:docMkLst>
        <pc:docMk/>
      </pc:docMkLst>
      <pc:sldChg chg="modSp">
        <pc:chgData name="Rithvik Goud Mushkam" userId="cf6f2cd1d37e7575" providerId="LiveId" clId="{5D4E4D88-3F70-44ED-9AD7-40354431CA08}" dt="2026-02-14T17:08:13.166" v="0"/>
        <pc:sldMkLst>
          <pc:docMk/>
          <pc:sldMk cId="0" sldId="267"/>
        </pc:sldMkLst>
        <pc:spChg chg="mod">
          <ac:chgData name="Rithvik Goud Mushkam" userId="cf6f2cd1d37e7575" providerId="LiveId" clId="{5D4E4D88-3F70-44ED-9AD7-40354431CA08}" dt="2026-02-14T17:08:13.166" v="0"/>
          <ac:spMkLst>
            <pc:docMk/>
            <pc:sldMk cId="0" sldId="267"/>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d07014906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04" name="Google Shape;104;g3ad07014906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d07014906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0" name="Google Shape;110;g3ad07014906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d07014906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16" name="Google Shape;116;g3ad07014906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d07014906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22" name="Google Shape;122;g3ad07014906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d07014906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28" name="Google Shape;128;g3ad07014906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d07014906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34" name="Google Shape;134;g3ad07014906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d07014906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46" name="Google Shape;146;g3ad07014906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d07014906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52" name="Google Shape;152;g3ad07014906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d07014906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58" name="Google Shape;158;g3ad07014906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d07014906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64" name="Google Shape;164;g3ad07014906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d07014906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75" name="Google Shape;175;g3ad07014906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CareerForge.pptx" TargetMode="External"/><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hyperlink" Target="https://drive.google.com/file/d/1M53s-GIzK7CcC3uDiUkDNBBy5ZfkuBYh/" TargetMode="External"/><Relationship Id="rId5" Type="http://schemas.openxmlformats.org/officeDocument/2006/relationships/hyperlink" Target="https://career-forge-pi.vercel.app/" TargetMode="External"/><Relationship Id="rId4" Type="http://schemas.openxmlformats.org/officeDocument/2006/relationships/hyperlink" Target="https://github.com/rithvik0906/CareerForg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6"/>
          <p:cNvSpPr txBox="1"/>
          <p:nvPr/>
        </p:nvSpPr>
        <p:spPr>
          <a:xfrm>
            <a:off x="111800" y="2676964"/>
            <a:ext cx="8760000" cy="232175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Team Details</a:t>
            </a:r>
            <a:endParaRPr sz="1800" b="1" i="0" u="none" strike="noStrike" cap="none" dirty="0">
              <a:solidFill>
                <a:schemeClr val="tx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chemeClr val="tx1"/>
                </a:solidFill>
                <a:latin typeface="Google Sans"/>
                <a:ea typeface="Google Sans"/>
                <a:cs typeface="Google Sans"/>
                <a:sym typeface="Google Sans"/>
              </a:rPr>
              <a:t>Team name</a:t>
            </a:r>
            <a:r>
              <a:rPr lang="en-GB" sz="1800" b="1" i="0" u="none" strike="noStrike" cap="none" dirty="0">
                <a:solidFill>
                  <a:srgbClr val="434343"/>
                </a:solidFill>
                <a:latin typeface="Google Sans"/>
                <a:ea typeface="Google Sans"/>
                <a:cs typeface="Google Sans"/>
                <a:sym typeface="Google Sans"/>
              </a:rPr>
              <a:t>: </a:t>
            </a:r>
            <a:r>
              <a:rPr lang="en-GB" sz="1800" i="0" u="none" strike="noStrike" cap="none" dirty="0" err="1">
                <a:solidFill>
                  <a:schemeClr val="tx1"/>
                </a:solidFill>
                <a:latin typeface="Google Sans"/>
                <a:ea typeface="Google Sans"/>
                <a:cs typeface="Google Sans"/>
                <a:sym typeface="Google Sans"/>
              </a:rPr>
              <a:t>AgentForge</a:t>
            </a:r>
            <a:endParaRPr sz="1800" i="0" u="none" strike="noStrike" cap="none" dirty="0">
              <a:solidFill>
                <a:schemeClr val="tx1"/>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chemeClr val="tx1"/>
                </a:solidFill>
                <a:latin typeface="Google Sans"/>
                <a:ea typeface="Google Sans"/>
                <a:cs typeface="Google Sans"/>
                <a:sym typeface="Google Sans"/>
              </a:rPr>
              <a:t>Team leader name</a:t>
            </a:r>
            <a:r>
              <a:rPr lang="en-GB" sz="1800" b="1" i="0" u="none" strike="noStrike" cap="none" dirty="0">
                <a:solidFill>
                  <a:srgbClr val="434343"/>
                </a:solidFill>
                <a:latin typeface="Google Sans"/>
                <a:ea typeface="Google Sans"/>
                <a:cs typeface="Google Sans"/>
                <a:sym typeface="Google Sans"/>
              </a:rPr>
              <a:t>: </a:t>
            </a:r>
            <a:r>
              <a:rPr lang="en-US" sz="1800" i="0" u="none" strike="noStrike" cap="none" dirty="0">
                <a:solidFill>
                  <a:schemeClr val="tx1"/>
                </a:solidFill>
                <a:latin typeface="Google Sans"/>
                <a:ea typeface="Google Sans"/>
                <a:cs typeface="Google Sans"/>
                <a:sym typeface="Google Sans"/>
              </a:rPr>
              <a:t>M. Rithvik Goud</a:t>
            </a:r>
          </a:p>
          <a:p>
            <a:pPr marL="914400" lvl="1" indent="-342900" algn="just">
              <a:buClr>
                <a:srgbClr val="434343"/>
              </a:buClr>
              <a:buSzPts val="1800"/>
              <a:buFont typeface="Google Sans"/>
              <a:buAutoNum type="alphaLcPeriod"/>
            </a:pPr>
            <a:r>
              <a:rPr lang="en-US" sz="1800" b="1" i="0" u="none" strike="noStrike" cap="none" dirty="0">
                <a:solidFill>
                  <a:schemeClr val="tx1"/>
                </a:solidFill>
                <a:latin typeface="Google Sans"/>
                <a:ea typeface="Google Sans"/>
                <a:cs typeface="Google Sans"/>
                <a:sym typeface="Google Sans"/>
              </a:rPr>
              <a:t>Problem Statement</a:t>
            </a:r>
            <a:r>
              <a:rPr lang="en-US" sz="1800" b="1" i="0" u="none" strike="noStrike" cap="none" dirty="0">
                <a:solidFill>
                  <a:srgbClr val="434343"/>
                </a:solidFill>
                <a:latin typeface="Google Sans"/>
                <a:ea typeface="Google Sans"/>
                <a:cs typeface="Google Sans"/>
                <a:sym typeface="Google Sans"/>
              </a:rPr>
              <a:t>: </a:t>
            </a:r>
            <a:r>
              <a:rPr lang="en-US" sz="1800" dirty="0">
                <a:solidFill>
                  <a:schemeClr val="tx1"/>
                </a:solidFill>
                <a:latin typeface="Google Sans" panose="020B0604020202020204" charset="0"/>
                <a:ea typeface="Google Sans" panose="020B0604020202020204" charset="0"/>
                <a:cs typeface="Google Sans" panose="020B0604020202020204" charset="0"/>
              </a:rPr>
              <a:t>Learners lack a clear, structured system to assess career readiness, identify skill gaps, prepare for interviews, and navigate job opportunities effectively—leading to unplanned learning and career confusion.</a:t>
            </a:r>
            <a:endParaRPr lang="en-US" sz="1800" i="0" u="none" strike="noStrike" cap="none" dirty="0">
              <a:solidFill>
                <a:schemeClr val="tx1"/>
              </a:solidFill>
              <a:latin typeface="Google Sans" panose="020B0604020202020204" charset="0"/>
              <a:ea typeface="Google Sans" panose="020B0604020202020204" charset="0"/>
              <a:cs typeface="Google Sans" panose="020B0604020202020204" charset="0"/>
              <a:sym typeface="Arial"/>
            </a:endParaRPr>
          </a:p>
        </p:txBody>
      </p:sp>
      <p:pic>
        <p:nvPicPr>
          <p:cNvPr id="107" name="Google Shape;107;p26" title="Techsprint banner.png"/>
          <p:cNvPicPr preferRelativeResize="0"/>
          <p:nvPr/>
        </p:nvPicPr>
        <p:blipFill>
          <a:blip r:embed="rId3">
            <a:alphaModFix/>
          </a:blip>
          <a:stretch>
            <a:fillRect/>
          </a:stretch>
        </p:blipFill>
        <p:spPr>
          <a:xfrm>
            <a:off x="0" y="7435"/>
            <a:ext cx="9085198" cy="2564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3" name="Google Shape;113;p27"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6" name="Rectangle 2">
            <a:extLst>
              <a:ext uri="{FF2B5EF4-FFF2-40B4-BE49-F238E27FC236}">
                <a16:creationId xmlns:a16="http://schemas.microsoft.com/office/drawing/2014/main" id="{9002AD93-02C8-24B2-BF2C-2C4D8B0B6F83}"/>
              </a:ext>
            </a:extLst>
          </p:cNvPr>
          <p:cNvSpPr>
            <a:spLocks noChangeArrowheads="1"/>
          </p:cNvSpPr>
          <p:nvPr/>
        </p:nvSpPr>
        <p:spPr bwMode="auto">
          <a:xfrm>
            <a:off x="159800" y="725090"/>
            <a:ext cx="854833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Brief about the solution and problem statement addressed: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CareerForge</a:t>
            </a:r>
            <a:r>
              <a:rPr kumimoji="0" lang="en-US" altLang="en-US" sz="18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 addresses the common challenge faced by students and early professionals who lack clarity about their career readiness, are unsure of required skills, follow unstructured learning paths, and struggle with interview preparation and job applications. The solution acts as an AI-powered personal career operating system that analyzes a user’s resume and target role to evaluate readiness, identify skill gaps, and provide actionable guidance. By offering personalized learning roadmaps, role-specific project recommendations, AI-driven mock interviews with feedback, and intelligent job and market insights, CareerForge transforms scattered career preparation into a structured, data-driven, and goal-oriented process, enabling users to clearly understand where they stand and what steps to take next in their career journey.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9" name="Google Shape;119;p28"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2" name="Rectangle 1">
            <a:extLst>
              <a:ext uri="{FF2B5EF4-FFF2-40B4-BE49-F238E27FC236}">
                <a16:creationId xmlns:a16="http://schemas.microsoft.com/office/drawing/2014/main" id="{12516F92-5071-B8B5-132D-AF64440F3B71}"/>
              </a:ext>
            </a:extLst>
          </p:cNvPr>
          <p:cNvSpPr>
            <a:spLocks noChangeArrowheads="1"/>
          </p:cNvSpPr>
          <p:nvPr/>
        </p:nvSpPr>
        <p:spPr bwMode="auto">
          <a:xfrm>
            <a:off x="215624" y="778599"/>
            <a:ext cx="87685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rPr>
              <a:t>Opportunities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endParaRPr>
          </a:p>
          <a:p>
            <a:pPr lvl="0" algn="just" eaLnBrk="0" fontAlgn="base" hangingPunct="0">
              <a:spcBef>
                <a:spcPct val="0"/>
              </a:spcBef>
              <a:spcAft>
                <a:spcPct val="0"/>
              </a:spcAft>
              <a:buClrTx/>
            </a:pPr>
            <a:r>
              <a:rPr lang="en-US" sz="1800" b="1" dirty="0">
                <a:latin typeface="Google Sans" panose="020B0604020202020204" charset="0"/>
                <a:ea typeface="Google Sans" panose="020B0604020202020204" charset="0"/>
                <a:cs typeface="Google Sans" panose="020B0604020202020204" charset="0"/>
              </a:rPr>
              <a:t>CareerForge</a:t>
            </a:r>
            <a:r>
              <a:rPr lang="en-US" sz="1800" dirty="0">
                <a:latin typeface="Google Sans" panose="020B0604020202020204" charset="0"/>
                <a:ea typeface="Google Sans" panose="020B0604020202020204" charset="0"/>
                <a:cs typeface="Google Sans" panose="020B0604020202020204" charset="0"/>
              </a:rPr>
              <a:t> addresses the increasing need for personalized career guidance in a rapidly evolving job market. By helping students and early professionals align their skills with industry demands through structured planning and AI insights, it opens opportunities to bridge the gap between learning and employability, with strong potential for future expansion into real-time job data and career analytics.</a:t>
            </a:r>
          </a:p>
          <a:p>
            <a:pPr lvl="0" algn="just" eaLnBrk="0" fontAlgn="base" hangingPunct="0">
              <a:spcBef>
                <a:spcPct val="0"/>
              </a:spcBef>
              <a:spcAft>
                <a:spcPct val="0"/>
              </a:spcAft>
              <a:buClr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How is it different from existing solutions?</a:t>
            </a:r>
            <a:endParaRPr lang="en-US" altLang="en-US" sz="1800" b="1"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algn="just" eaLnBrk="0" fontAlgn="base" hangingPunct="0">
              <a:spcBef>
                <a:spcPct val="0"/>
              </a:spcBef>
              <a:spcAft>
                <a:spcPct val="0"/>
              </a:spcAft>
              <a:buClrTx/>
            </a:pPr>
            <a:r>
              <a:rPr lang="en-US" sz="1800" b="1" dirty="0">
                <a:latin typeface="Google Sans" panose="020B0604020202020204" charset="0"/>
                <a:ea typeface="Google Sans" panose="020B0604020202020204" charset="0"/>
                <a:cs typeface="Google Sans" panose="020B0604020202020204" charset="0"/>
              </a:rPr>
              <a:t>CareerForge</a:t>
            </a:r>
            <a:r>
              <a:rPr lang="en-US" sz="1800" dirty="0">
                <a:latin typeface="Google Sans" panose="020B0604020202020204" charset="0"/>
                <a:ea typeface="Google Sans" panose="020B0604020202020204" charset="0"/>
                <a:cs typeface="Google Sans" panose="020B0604020202020204" charset="0"/>
              </a:rPr>
              <a:t> stands out by offering a unified, end-to-end career platform instead of isolated tools. It integrates resume analysis, skill gap detection, learning plans, project ideas, interview practice, and job insights into one personalized experience tailored to a user’s target role.</a:t>
            </a:r>
            <a:endParaRPr kumimoji="0" lang="en-US" altLang="en-US" sz="18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290619-EE51-2A9E-579A-70A4822D91D6}"/>
              </a:ext>
            </a:extLst>
          </p:cNvPr>
          <p:cNvPicPr>
            <a:picLocks noChangeAspect="1"/>
          </p:cNvPicPr>
          <p:nvPr/>
        </p:nvPicPr>
        <p:blipFill>
          <a:blip r:embed="rId2"/>
          <a:stretch>
            <a:fillRect/>
          </a:stretch>
        </p:blipFill>
        <p:spPr>
          <a:xfrm>
            <a:off x="193208" y="157646"/>
            <a:ext cx="1828959" cy="323116"/>
          </a:xfrm>
          <a:prstGeom prst="rect">
            <a:avLst/>
          </a:prstGeom>
        </p:spPr>
      </p:pic>
      <p:sp>
        <p:nvSpPr>
          <p:cNvPr id="6" name="TextBox 5">
            <a:extLst>
              <a:ext uri="{FF2B5EF4-FFF2-40B4-BE49-F238E27FC236}">
                <a16:creationId xmlns:a16="http://schemas.microsoft.com/office/drawing/2014/main" id="{B4D7BDFC-D0D6-1673-F7F2-A6693038F3F6}"/>
              </a:ext>
            </a:extLst>
          </p:cNvPr>
          <p:cNvSpPr txBox="1"/>
          <p:nvPr/>
        </p:nvSpPr>
        <p:spPr>
          <a:xfrm>
            <a:off x="193208" y="816258"/>
            <a:ext cx="7984273" cy="3416320"/>
          </a:xfrm>
          <a:prstGeom prst="rect">
            <a:avLst/>
          </a:prstGeom>
          <a:noFill/>
        </p:spPr>
        <p:txBody>
          <a:bodyPr wrap="square">
            <a:spAutoFit/>
          </a:bodyPr>
          <a:lstStyle/>
          <a:p>
            <a:pPr>
              <a:buNone/>
            </a:pPr>
            <a:r>
              <a:rPr lang="en-US" sz="1800" b="1" dirty="0">
                <a:latin typeface="Google Sans" panose="020B0604020202020204" charset="0"/>
                <a:ea typeface="Google Sans" panose="020B0604020202020204" charset="0"/>
                <a:cs typeface="Google Sans" panose="020B0604020202020204" charset="0"/>
              </a:rPr>
              <a:t>How does it solve the problem?</a:t>
            </a:r>
          </a:p>
          <a:p>
            <a:pPr>
              <a:buNone/>
            </a:pPr>
            <a:endParaRPr lang="en-US" sz="1800" b="1" dirty="0">
              <a:latin typeface="Google Sans" panose="020B0604020202020204" charset="0"/>
              <a:ea typeface="Google Sans" panose="020B0604020202020204" charset="0"/>
              <a:cs typeface="Google Sans" panose="020B0604020202020204" charset="0"/>
            </a:endParaRPr>
          </a:p>
          <a:p>
            <a:pPr algn="just">
              <a:buNone/>
            </a:pPr>
            <a:r>
              <a:rPr lang="en-US" sz="1800" b="1" dirty="0">
                <a:latin typeface="Google Sans" panose="020B0604020202020204" charset="0"/>
                <a:ea typeface="Google Sans" panose="020B0604020202020204" charset="0"/>
                <a:cs typeface="Google Sans" panose="020B0604020202020204" charset="0"/>
              </a:rPr>
              <a:t>CareerForge </a:t>
            </a:r>
            <a:r>
              <a:rPr lang="en-US" sz="1800" dirty="0">
                <a:latin typeface="Google Sans" panose="020B0604020202020204" charset="0"/>
                <a:ea typeface="Google Sans" panose="020B0604020202020204" charset="0"/>
                <a:cs typeface="Google Sans" panose="020B0604020202020204" charset="0"/>
              </a:rPr>
              <a:t>solves the problem of career confusion and unstructured preparation by converting user data—such as resumes and career goals—into clear, actionable guidance. Through AI-powered analysis, it helps users understand their career readiness, identify missing skills, and follow a structured learning roadmap. The platform reinforces learning with practical project ideas, builds confidence through AI-driven mock interviews with feedback, and supports informed decision-making using job recommendations and market trends. This structured, personalized approach replaces guesswork with clarity, enabling users to progress systematically toward their career goals.</a:t>
            </a:r>
          </a:p>
        </p:txBody>
      </p:sp>
    </p:spTree>
    <p:extLst>
      <p:ext uri="{BB962C8B-B14F-4D97-AF65-F5344CB8AC3E}">
        <p14:creationId xmlns:p14="http://schemas.microsoft.com/office/powerpoint/2010/main" val="2602057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9"/>
          <p:cNvSpPr txBox="1"/>
          <p:nvPr/>
        </p:nvSpPr>
        <p:spPr>
          <a:xfrm>
            <a:off x="289932" y="661937"/>
            <a:ext cx="8698800" cy="5499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List of features offered by the solution</a:t>
            </a:r>
          </a:p>
          <a:p>
            <a:pPr marL="0" marR="0" lvl="0" indent="0" algn="just" rtl="0">
              <a:lnSpc>
                <a:spcPct val="100000"/>
              </a:lnSpc>
              <a:spcBef>
                <a:spcPts val="0"/>
              </a:spcBef>
              <a:spcAft>
                <a:spcPts val="0"/>
              </a:spcAft>
              <a:buClr>
                <a:srgbClr val="000000"/>
              </a:buClr>
              <a:buSzPts val="1800"/>
              <a:buFont typeface="Arial"/>
              <a:buNone/>
            </a:pPr>
            <a:endParaRPr lang="en-GB" sz="1800" b="1"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p:txBody>
      </p:sp>
      <p:pic>
        <p:nvPicPr>
          <p:cNvPr id="125" name="Google Shape;125;p29"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2" name="Rectangle 1">
            <a:extLst>
              <a:ext uri="{FF2B5EF4-FFF2-40B4-BE49-F238E27FC236}">
                <a16:creationId xmlns:a16="http://schemas.microsoft.com/office/drawing/2014/main" id="{56A92C73-CC08-9105-1B57-77F4CD26FF7F}"/>
              </a:ext>
            </a:extLst>
          </p:cNvPr>
          <p:cNvSpPr>
            <a:spLocks noChangeArrowheads="1"/>
          </p:cNvSpPr>
          <p:nvPr/>
        </p:nvSpPr>
        <p:spPr bwMode="auto">
          <a:xfrm>
            <a:off x="365123" y="1350336"/>
            <a:ext cx="862360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AI-powered resume analysis and career readiness scoring.</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Skill extraction and detailed skill gap analysis for target roles.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Personalized, structured weekly learning plans.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Task management with progress tracking (add, delete, mark complete).</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Role-specific project recommendations with resume value insights.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AI-driven mock interviews with chat and voice support.</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Post-interview feedback including scores, strengths, and improvement areas.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AI-assisted job matching with skill match scores.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Market trend insights covering demand, salaries, and emerging technologies.</a:t>
            </a:r>
          </a:p>
          <a:p>
            <a:pPr marL="285750" indent="-285750">
              <a:buFont typeface="Arial" panose="020B0604020202020204" pitchFamily="34" charset="0"/>
              <a:buChar char="•"/>
            </a:pPr>
            <a:r>
              <a:rPr lang="en-US" sz="1800" dirty="0">
                <a:latin typeface="Google Sans" panose="020B0604020202020204" charset="0"/>
                <a:ea typeface="Google Sans" panose="020B0604020202020204" charset="0"/>
                <a:cs typeface="Google Sans" panose="020B0604020202020204" charset="0"/>
              </a:rPr>
              <a:t>Secure user authentication with personalized data persistence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panose="020B0604020202020204" charset="0"/>
              <a:ea typeface="Google Sans" panose="020B0604020202020204" charset="0"/>
              <a:cs typeface="Google Sans"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158825" y="855225"/>
            <a:ext cx="8784300" cy="46805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dirty="0">
                <a:solidFill>
                  <a:schemeClr val="tx1"/>
                </a:solidFill>
                <a:latin typeface="Google Sans"/>
                <a:ea typeface="Google Sans"/>
                <a:cs typeface="Google Sans"/>
                <a:sym typeface="Google Sans"/>
              </a:rPr>
              <a:t>Google </a:t>
            </a:r>
            <a:r>
              <a:rPr lang="en-GB" sz="1800" b="1" i="0" u="none" strike="noStrike" cap="none" dirty="0">
                <a:solidFill>
                  <a:schemeClr val="tx1"/>
                </a:solidFill>
                <a:latin typeface="Google Sans"/>
                <a:ea typeface="Google Sans"/>
                <a:cs typeface="Google Sans"/>
                <a:sym typeface="Google Sans"/>
              </a:rPr>
              <a:t>Technologies used in the solution</a:t>
            </a:r>
            <a:endParaRPr sz="1200" b="1" i="0" u="none" strike="noStrike" cap="none" dirty="0">
              <a:solidFill>
                <a:schemeClr val="tx1"/>
              </a:solidFill>
              <a:latin typeface="Google Sans"/>
              <a:ea typeface="Google Sans"/>
              <a:cs typeface="Google Sans"/>
              <a:sym typeface="Google Sans"/>
            </a:endParaRPr>
          </a:p>
        </p:txBody>
      </p:sp>
      <p:pic>
        <p:nvPicPr>
          <p:cNvPr id="131" name="Google Shape;131;p30"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5" name="TextBox 4">
            <a:extLst>
              <a:ext uri="{FF2B5EF4-FFF2-40B4-BE49-F238E27FC236}">
                <a16:creationId xmlns:a16="http://schemas.microsoft.com/office/drawing/2014/main" id="{23C7C662-DB59-9863-E62E-2E47192B2728}"/>
              </a:ext>
            </a:extLst>
          </p:cNvPr>
          <p:cNvSpPr txBox="1"/>
          <p:nvPr/>
        </p:nvSpPr>
        <p:spPr>
          <a:xfrm>
            <a:off x="158825" y="1395175"/>
            <a:ext cx="8784300" cy="3046988"/>
          </a:xfrm>
          <a:prstGeom prst="rect">
            <a:avLst/>
          </a:prstGeom>
          <a:noFill/>
        </p:spPr>
        <p:txBody>
          <a:bodyPr wrap="square" rtlCol="0">
            <a:spAutoFit/>
          </a:bodyPr>
          <a:lstStyle/>
          <a:p>
            <a:pPr algn="just"/>
            <a:r>
              <a:rPr lang="en-US" sz="1600" b="1" dirty="0">
                <a:latin typeface="Google Sans" panose="020B0604020202020204" charset="0"/>
                <a:ea typeface="Google Sans" panose="020B0604020202020204" charset="0"/>
                <a:cs typeface="Google Sans" panose="020B0604020202020204" charset="0"/>
              </a:rPr>
              <a:t>Google Gemini API – Role in CareerForge</a:t>
            </a:r>
          </a:p>
          <a:p>
            <a:pPr algn="just"/>
            <a:endParaRPr lang="en-US" sz="1600" dirty="0">
              <a:latin typeface="Google Sans" panose="020B0604020202020204" charset="0"/>
              <a:ea typeface="Google Sans" panose="020B0604020202020204" charset="0"/>
              <a:cs typeface="Google Sans" panose="020B0604020202020204" charset="0"/>
            </a:endParaRPr>
          </a:p>
          <a:p>
            <a:pPr algn="just"/>
            <a:r>
              <a:rPr lang="en-US" sz="1600" b="1" dirty="0">
                <a:latin typeface="Google Sans" panose="020B0604020202020204" charset="0"/>
                <a:ea typeface="Google Sans" panose="020B0604020202020204" charset="0"/>
                <a:cs typeface="Google Sans" panose="020B0604020202020204" charset="0"/>
              </a:rPr>
              <a:t>Google Gemini API </a:t>
            </a:r>
            <a:r>
              <a:rPr lang="en-US" sz="1600" dirty="0">
                <a:latin typeface="Google Sans" panose="020B0604020202020204" charset="0"/>
                <a:ea typeface="Google Sans" panose="020B0604020202020204" charset="0"/>
                <a:cs typeface="Google Sans" panose="020B0604020202020204" charset="0"/>
              </a:rPr>
              <a:t>acts as the core AI engine of </a:t>
            </a:r>
            <a:r>
              <a:rPr lang="en-US" sz="1600" b="1" dirty="0">
                <a:latin typeface="Google Sans" panose="020B0604020202020204" charset="0"/>
                <a:ea typeface="Google Sans" panose="020B0604020202020204" charset="0"/>
                <a:cs typeface="Google Sans" panose="020B0604020202020204" charset="0"/>
              </a:rPr>
              <a:t>CareerForge,</a:t>
            </a:r>
            <a:r>
              <a:rPr lang="en-US" sz="1600" dirty="0">
                <a:latin typeface="Google Sans" panose="020B0604020202020204" charset="0"/>
                <a:ea typeface="Google Sans" panose="020B0604020202020204" charset="0"/>
                <a:cs typeface="Google Sans" panose="020B0604020202020204" charset="0"/>
              </a:rPr>
              <a:t> enabling intelligent analysis of user resumes and target roles. It is responsible for extracting skills, evaluating career readiness, identifying skill gaps, and generating meaningful insights that help users understand their current standing in the job market.</a:t>
            </a:r>
          </a:p>
          <a:p>
            <a:pPr algn="just"/>
            <a:endParaRPr lang="en-US" sz="1600" dirty="0">
              <a:latin typeface="Google Sans" panose="020B0604020202020204" charset="0"/>
              <a:ea typeface="Google Sans" panose="020B0604020202020204" charset="0"/>
              <a:cs typeface="Google Sans" panose="020B0604020202020204" charset="0"/>
            </a:endParaRPr>
          </a:p>
          <a:p>
            <a:pPr algn="just"/>
            <a:r>
              <a:rPr lang="en-US" sz="1600" dirty="0">
                <a:latin typeface="Google Sans" panose="020B0604020202020204" charset="0"/>
                <a:ea typeface="Google Sans" panose="020B0604020202020204" charset="0"/>
                <a:cs typeface="Google Sans" panose="020B0604020202020204" charset="0"/>
              </a:rPr>
              <a:t>Beyond analysis, </a:t>
            </a:r>
            <a:r>
              <a:rPr lang="en-US" sz="1600" b="1" dirty="0">
                <a:latin typeface="Google Sans" panose="020B0604020202020204" charset="0"/>
                <a:ea typeface="Google Sans" panose="020B0604020202020204" charset="0"/>
                <a:cs typeface="Google Sans" panose="020B0604020202020204" charset="0"/>
              </a:rPr>
              <a:t>Gemini</a:t>
            </a:r>
            <a:r>
              <a:rPr lang="en-US" sz="1600" dirty="0">
                <a:latin typeface="Google Sans" panose="020B0604020202020204" charset="0"/>
                <a:ea typeface="Google Sans" panose="020B0604020202020204" charset="0"/>
                <a:cs typeface="Google Sans" panose="020B0604020202020204" charset="0"/>
              </a:rPr>
              <a:t> powers the </a:t>
            </a:r>
            <a:r>
              <a:rPr lang="en-US" sz="1600" b="1" dirty="0">
                <a:latin typeface="Google Sans" panose="020B0604020202020204" charset="0"/>
                <a:ea typeface="Google Sans" panose="020B0604020202020204" charset="0"/>
                <a:cs typeface="Google Sans" panose="020B0604020202020204" charset="0"/>
              </a:rPr>
              <a:t>personalized experience </a:t>
            </a:r>
            <a:r>
              <a:rPr lang="en-US" sz="1600" dirty="0">
                <a:latin typeface="Google Sans" panose="020B0604020202020204" charset="0"/>
                <a:ea typeface="Google Sans" panose="020B0604020202020204" charset="0"/>
                <a:cs typeface="Google Sans" panose="020B0604020202020204" charset="0"/>
              </a:rPr>
              <a:t>within </a:t>
            </a:r>
            <a:r>
              <a:rPr lang="en-US" sz="1600" b="1" dirty="0">
                <a:latin typeface="Google Sans" panose="020B0604020202020204" charset="0"/>
                <a:ea typeface="Google Sans" panose="020B0604020202020204" charset="0"/>
                <a:cs typeface="Google Sans" panose="020B0604020202020204" charset="0"/>
              </a:rPr>
              <a:t>CareerForge</a:t>
            </a:r>
            <a:r>
              <a:rPr lang="en-US" sz="1600" dirty="0">
                <a:latin typeface="Google Sans" panose="020B0604020202020204" charset="0"/>
                <a:ea typeface="Google Sans" panose="020B0604020202020204" charset="0"/>
                <a:cs typeface="Google Sans" panose="020B0604020202020204" charset="0"/>
              </a:rPr>
              <a:t> by generating </a:t>
            </a:r>
            <a:r>
              <a:rPr lang="en-US" sz="1600" b="1" dirty="0">
                <a:latin typeface="Google Sans" panose="020B0604020202020204" charset="0"/>
                <a:ea typeface="Google Sans" panose="020B0604020202020204" charset="0"/>
                <a:cs typeface="Google Sans" panose="020B0604020202020204" charset="0"/>
              </a:rPr>
              <a:t>structured learning plans</a:t>
            </a:r>
            <a:r>
              <a:rPr lang="en-US" sz="1600" dirty="0">
                <a:latin typeface="Google Sans" panose="020B0604020202020204" charset="0"/>
                <a:ea typeface="Google Sans" panose="020B0604020202020204" charset="0"/>
                <a:cs typeface="Google Sans" panose="020B0604020202020204" charset="0"/>
              </a:rPr>
              <a:t>, </a:t>
            </a:r>
            <a:r>
              <a:rPr lang="en-US" sz="1600" b="1" dirty="0">
                <a:latin typeface="Google Sans" panose="020B0604020202020204" charset="0"/>
                <a:ea typeface="Google Sans" panose="020B0604020202020204" charset="0"/>
                <a:cs typeface="Google Sans" panose="020B0604020202020204" charset="0"/>
              </a:rPr>
              <a:t>role-specific</a:t>
            </a:r>
            <a:r>
              <a:rPr lang="en-US" sz="1600" dirty="0">
                <a:latin typeface="Google Sans" panose="020B0604020202020204" charset="0"/>
                <a:ea typeface="Google Sans" panose="020B0604020202020204" charset="0"/>
                <a:cs typeface="Google Sans" panose="020B0604020202020204" charset="0"/>
              </a:rPr>
              <a:t> project ideas, and </a:t>
            </a:r>
            <a:r>
              <a:rPr lang="en-US" sz="1600" b="1" dirty="0">
                <a:latin typeface="Google Sans" panose="020B0604020202020204" charset="0"/>
                <a:ea typeface="Google Sans" panose="020B0604020202020204" charset="0"/>
                <a:cs typeface="Google Sans" panose="020B0604020202020204" charset="0"/>
              </a:rPr>
              <a:t>AI-driven mock interviews </a:t>
            </a:r>
            <a:r>
              <a:rPr lang="en-US" sz="1600" dirty="0">
                <a:latin typeface="Google Sans" panose="020B0604020202020204" charset="0"/>
                <a:ea typeface="Google Sans" panose="020B0604020202020204" charset="0"/>
                <a:cs typeface="Google Sans" panose="020B0604020202020204" charset="0"/>
              </a:rPr>
              <a:t>with detailed feedback. It also supports </a:t>
            </a:r>
            <a:r>
              <a:rPr lang="en-US" sz="1600" b="1" dirty="0">
                <a:latin typeface="Google Sans" panose="020B0604020202020204" charset="0"/>
                <a:ea typeface="Google Sans" panose="020B0604020202020204" charset="0"/>
                <a:cs typeface="Google Sans" panose="020B0604020202020204" charset="0"/>
              </a:rPr>
              <a:t>job recommendations </a:t>
            </a:r>
            <a:r>
              <a:rPr lang="en-US" sz="1600" dirty="0">
                <a:latin typeface="Google Sans" panose="020B0604020202020204" charset="0"/>
                <a:ea typeface="Google Sans" panose="020B0604020202020204" charset="0"/>
                <a:cs typeface="Google Sans" panose="020B0604020202020204" charset="0"/>
              </a:rPr>
              <a:t>and </a:t>
            </a:r>
            <a:r>
              <a:rPr lang="en-US" sz="1600" b="1" dirty="0">
                <a:latin typeface="Google Sans" panose="020B0604020202020204" charset="0"/>
                <a:ea typeface="Google Sans" panose="020B0604020202020204" charset="0"/>
                <a:cs typeface="Google Sans" panose="020B0604020202020204" charset="0"/>
              </a:rPr>
              <a:t>market trend </a:t>
            </a:r>
            <a:r>
              <a:rPr lang="en-US" sz="1600" dirty="0">
                <a:latin typeface="Google Sans" panose="020B0604020202020204" charset="0"/>
                <a:ea typeface="Google Sans" panose="020B0604020202020204" charset="0"/>
                <a:cs typeface="Google Sans" panose="020B0604020202020204" charset="0"/>
              </a:rPr>
              <a:t>insights, ensuring users receive context-aware, practical guidance tailored to their career goals.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1"/>
          <p:cNvSpPr txBox="1"/>
          <p:nvPr/>
        </p:nvSpPr>
        <p:spPr>
          <a:xfrm>
            <a:off x="186000" y="630053"/>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Process flow diagram or Use-case diagram</a:t>
            </a:r>
            <a:endParaRPr sz="1800" b="1" i="0" u="none" strike="noStrike" cap="none" dirty="0">
              <a:solidFill>
                <a:schemeClr val="tx1"/>
              </a:solidFill>
              <a:latin typeface="Google Sans"/>
              <a:ea typeface="Google Sans"/>
              <a:cs typeface="Google Sans"/>
              <a:sym typeface="Google Sans"/>
            </a:endParaRPr>
          </a:p>
        </p:txBody>
      </p:sp>
      <p:pic>
        <p:nvPicPr>
          <p:cNvPr id="137" name="Google Shape;137;p31"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pic>
        <p:nvPicPr>
          <p:cNvPr id="6" name="Picture 5">
            <a:extLst>
              <a:ext uri="{FF2B5EF4-FFF2-40B4-BE49-F238E27FC236}">
                <a16:creationId xmlns:a16="http://schemas.microsoft.com/office/drawing/2014/main" id="{0BF53A1D-0AF7-C9F3-8047-6EBBB7235CE7}"/>
              </a:ext>
            </a:extLst>
          </p:cNvPr>
          <p:cNvPicPr>
            <a:picLocks noChangeAspect="1"/>
          </p:cNvPicPr>
          <p:nvPr/>
        </p:nvPicPr>
        <p:blipFill>
          <a:blip r:embed="rId4"/>
          <a:stretch>
            <a:fillRect/>
          </a:stretch>
        </p:blipFill>
        <p:spPr>
          <a:xfrm>
            <a:off x="714375" y="1143052"/>
            <a:ext cx="7715250" cy="40004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3"/>
          <p:cNvSpPr txBox="1"/>
          <p:nvPr/>
        </p:nvSpPr>
        <p:spPr>
          <a:xfrm>
            <a:off x="265628" y="629533"/>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Architecture diagram of the proposed solution</a:t>
            </a:r>
            <a:endParaRPr sz="1800" b="1" i="0" u="none" strike="noStrike" cap="none" dirty="0">
              <a:solidFill>
                <a:schemeClr val="tx1"/>
              </a:solidFill>
              <a:latin typeface="Google Sans"/>
              <a:ea typeface="Google Sans"/>
              <a:cs typeface="Google Sans"/>
              <a:sym typeface="Google Sans"/>
            </a:endParaRPr>
          </a:p>
        </p:txBody>
      </p:sp>
      <p:pic>
        <p:nvPicPr>
          <p:cNvPr id="149" name="Google Shape;149;p33"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pic>
        <p:nvPicPr>
          <p:cNvPr id="4" name="Picture 3">
            <a:extLst>
              <a:ext uri="{FF2B5EF4-FFF2-40B4-BE49-F238E27FC236}">
                <a16:creationId xmlns:a16="http://schemas.microsoft.com/office/drawing/2014/main" id="{D5B43A4C-2493-5404-761B-7BEC9B1BF7C9}"/>
              </a:ext>
            </a:extLst>
          </p:cNvPr>
          <p:cNvPicPr>
            <a:picLocks noChangeAspect="1"/>
          </p:cNvPicPr>
          <p:nvPr/>
        </p:nvPicPr>
        <p:blipFill>
          <a:blip r:embed="rId4"/>
          <a:stretch>
            <a:fillRect/>
          </a:stretch>
        </p:blipFill>
        <p:spPr>
          <a:xfrm>
            <a:off x="436881" y="995680"/>
            <a:ext cx="8249920" cy="41025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4"/>
          <p:cNvSpPr txBox="1"/>
          <p:nvPr/>
        </p:nvSpPr>
        <p:spPr>
          <a:xfrm>
            <a:off x="210450" y="602464"/>
            <a:ext cx="8723100" cy="42344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Snapshots</a:t>
            </a:r>
            <a:endParaRPr sz="1800" b="1" i="0" u="none" strike="noStrike" cap="none" dirty="0">
              <a:solidFill>
                <a:schemeClr val="tx1"/>
              </a:solidFill>
              <a:latin typeface="Google Sans"/>
              <a:ea typeface="Google Sans"/>
              <a:cs typeface="Google Sans"/>
              <a:sym typeface="Google Sans"/>
            </a:endParaRPr>
          </a:p>
        </p:txBody>
      </p:sp>
      <p:pic>
        <p:nvPicPr>
          <p:cNvPr id="155" name="Google Shape;155;p34"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pic>
        <p:nvPicPr>
          <p:cNvPr id="2" name="Picture 1">
            <a:extLst>
              <a:ext uri="{FF2B5EF4-FFF2-40B4-BE49-F238E27FC236}">
                <a16:creationId xmlns:a16="http://schemas.microsoft.com/office/drawing/2014/main" id="{69D9DDC2-BACD-F9BC-44C4-7C7FC4409050}"/>
              </a:ext>
            </a:extLst>
          </p:cNvPr>
          <p:cNvPicPr>
            <a:picLocks noChangeAspect="1"/>
          </p:cNvPicPr>
          <p:nvPr/>
        </p:nvPicPr>
        <p:blipFill>
          <a:blip r:embed="rId4"/>
          <a:stretch>
            <a:fillRect/>
          </a:stretch>
        </p:blipFill>
        <p:spPr>
          <a:xfrm>
            <a:off x="219294" y="1126776"/>
            <a:ext cx="4434482" cy="1735370"/>
          </a:xfrm>
          <a:prstGeom prst="rect">
            <a:avLst/>
          </a:prstGeom>
        </p:spPr>
      </p:pic>
      <p:pic>
        <p:nvPicPr>
          <p:cNvPr id="3" name="Picture 2">
            <a:extLst>
              <a:ext uri="{FF2B5EF4-FFF2-40B4-BE49-F238E27FC236}">
                <a16:creationId xmlns:a16="http://schemas.microsoft.com/office/drawing/2014/main" id="{973E1735-5317-0AE9-C83A-F6A32427870B}"/>
              </a:ext>
            </a:extLst>
          </p:cNvPr>
          <p:cNvPicPr>
            <a:picLocks noChangeAspect="1"/>
          </p:cNvPicPr>
          <p:nvPr/>
        </p:nvPicPr>
        <p:blipFill>
          <a:blip r:embed="rId5"/>
          <a:stretch>
            <a:fillRect/>
          </a:stretch>
        </p:blipFill>
        <p:spPr>
          <a:xfrm>
            <a:off x="4876800" y="1116746"/>
            <a:ext cx="3977268" cy="1745400"/>
          </a:xfrm>
          <a:prstGeom prst="rect">
            <a:avLst/>
          </a:prstGeom>
        </p:spPr>
      </p:pic>
      <p:pic>
        <p:nvPicPr>
          <p:cNvPr id="4" name="Picture 3">
            <a:extLst>
              <a:ext uri="{FF2B5EF4-FFF2-40B4-BE49-F238E27FC236}">
                <a16:creationId xmlns:a16="http://schemas.microsoft.com/office/drawing/2014/main" id="{DA83DC97-556A-4F85-9777-B9AC630A8621}"/>
              </a:ext>
            </a:extLst>
          </p:cNvPr>
          <p:cNvPicPr>
            <a:picLocks noChangeAspect="1"/>
          </p:cNvPicPr>
          <p:nvPr/>
        </p:nvPicPr>
        <p:blipFill>
          <a:blip r:embed="rId6"/>
          <a:stretch>
            <a:fillRect/>
          </a:stretch>
        </p:blipFill>
        <p:spPr>
          <a:xfrm>
            <a:off x="219294" y="3100039"/>
            <a:ext cx="4434482" cy="1887447"/>
          </a:xfrm>
          <a:prstGeom prst="rect">
            <a:avLst/>
          </a:prstGeom>
        </p:spPr>
      </p:pic>
      <p:pic>
        <p:nvPicPr>
          <p:cNvPr id="5" name="Picture 4">
            <a:extLst>
              <a:ext uri="{FF2B5EF4-FFF2-40B4-BE49-F238E27FC236}">
                <a16:creationId xmlns:a16="http://schemas.microsoft.com/office/drawing/2014/main" id="{D543A906-B907-2C3F-0715-E195D1AA5B79}"/>
              </a:ext>
            </a:extLst>
          </p:cNvPr>
          <p:cNvPicPr>
            <a:picLocks noChangeAspect="1"/>
          </p:cNvPicPr>
          <p:nvPr/>
        </p:nvPicPr>
        <p:blipFill>
          <a:blip r:embed="rId7"/>
          <a:stretch>
            <a:fillRect/>
          </a:stretch>
        </p:blipFill>
        <p:spPr>
          <a:xfrm>
            <a:off x="4876800" y="3100039"/>
            <a:ext cx="3977268" cy="18874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AE0724-A89F-8DF2-B037-9826969D4D18}"/>
              </a:ext>
            </a:extLst>
          </p:cNvPr>
          <p:cNvPicPr>
            <a:picLocks noChangeAspect="1"/>
          </p:cNvPicPr>
          <p:nvPr/>
        </p:nvPicPr>
        <p:blipFill>
          <a:blip r:embed="rId2"/>
          <a:stretch>
            <a:fillRect/>
          </a:stretch>
        </p:blipFill>
        <p:spPr>
          <a:xfrm>
            <a:off x="185774" y="187383"/>
            <a:ext cx="1828959" cy="323116"/>
          </a:xfrm>
          <a:prstGeom prst="rect">
            <a:avLst/>
          </a:prstGeom>
        </p:spPr>
      </p:pic>
      <p:pic>
        <p:nvPicPr>
          <p:cNvPr id="3" name="Picture 2">
            <a:extLst>
              <a:ext uri="{FF2B5EF4-FFF2-40B4-BE49-F238E27FC236}">
                <a16:creationId xmlns:a16="http://schemas.microsoft.com/office/drawing/2014/main" id="{0D41BFA7-DE8A-EED0-BA62-9D4004D0F94A}"/>
              </a:ext>
            </a:extLst>
          </p:cNvPr>
          <p:cNvPicPr>
            <a:picLocks noChangeAspect="1"/>
          </p:cNvPicPr>
          <p:nvPr/>
        </p:nvPicPr>
        <p:blipFill>
          <a:blip r:embed="rId3"/>
          <a:stretch>
            <a:fillRect/>
          </a:stretch>
        </p:blipFill>
        <p:spPr>
          <a:xfrm>
            <a:off x="349404" y="748239"/>
            <a:ext cx="3999572" cy="1905749"/>
          </a:xfrm>
          <a:prstGeom prst="rect">
            <a:avLst/>
          </a:prstGeom>
        </p:spPr>
      </p:pic>
      <p:pic>
        <p:nvPicPr>
          <p:cNvPr id="4" name="Picture 3">
            <a:extLst>
              <a:ext uri="{FF2B5EF4-FFF2-40B4-BE49-F238E27FC236}">
                <a16:creationId xmlns:a16="http://schemas.microsoft.com/office/drawing/2014/main" id="{66986E7D-5B10-EC2B-0AE7-E6B8DBCDEC7A}"/>
              </a:ext>
            </a:extLst>
          </p:cNvPr>
          <p:cNvPicPr>
            <a:picLocks noChangeAspect="1"/>
          </p:cNvPicPr>
          <p:nvPr/>
        </p:nvPicPr>
        <p:blipFill>
          <a:blip r:embed="rId4"/>
          <a:stretch>
            <a:fillRect/>
          </a:stretch>
        </p:blipFill>
        <p:spPr>
          <a:xfrm>
            <a:off x="4490224" y="748240"/>
            <a:ext cx="4200293" cy="1905749"/>
          </a:xfrm>
          <a:prstGeom prst="rect">
            <a:avLst/>
          </a:prstGeom>
        </p:spPr>
      </p:pic>
      <p:pic>
        <p:nvPicPr>
          <p:cNvPr id="5" name="Picture 4">
            <a:extLst>
              <a:ext uri="{FF2B5EF4-FFF2-40B4-BE49-F238E27FC236}">
                <a16:creationId xmlns:a16="http://schemas.microsoft.com/office/drawing/2014/main" id="{44DCCDEE-9900-1466-F797-C763565F78FB}"/>
              </a:ext>
            </a:extLst>
          </p:cNvPr>
          <p:cNvPicPr>
            <a:picLocks noChangeAspect="1"/>
          </p:cNvPicPr>
          <p:nvPr/>
        </p:nvPicPr>
        <p:blipFill>
          <a:blip r:embed="rId5"/>
          <a:stretch>
            <a:fillRect/>
          </a:stretch>
        </p:blipFill>
        <p:spPr>
          <a:xfrm>
            <a:off x="349404" y="2929053"/>
            <a:ext cx="3999572" cy="1993413"/>
          </a:xfrm>
          <a:prstGeom prst="rect">
            <a:avLst/>
          </a:prstGeom>
        </p:spPr>
      </p:pic>
      <p:pic>
        <p:nvPicPr>
          <p:cNvPr id="6" name="Picture 5">
            <a:extLst>
              <a:ext uri="{FF2B5EF4-FFF2-40B4-BE49-F238E27FC236}">
                <a16:creationId xmlns:a16="http://schemas.microsoft.com/office/drawing/2014/main" id="{71E8383E-FFC3-12EF-398C-2F46FFC4C28B}"/>
              </a:ext>
            </a:extLst>
          </p:cNvPr>
          <p:cNvPicPr>
            <a:picLocks noChangeAspect="1"/>
          </p:cNvPicPr>
          <p:nvPr/>
        </p:nvPicPr>
        <p:blipFill>
          <a:blip r:embed="rId6"/>
          <a:stretch>
            <a:fillRect/>
          </a:stretch>
        </p:blipFill>
        <p:spPr>
          <a:xfrm>
            <a:off x="4490224" y="2929053"/>
            <a:ext cx="4200293" cy="1993413"/>
          </a:xfrm>
          <a:prstGeom prst="rect">
            <a:avLst/>
          </a:prstGeom>
        </p:spPr>
      </p:pic>
    </p:spTree>
    <p:extLst>
      <p:ext uri="{BB962C8B-B14F-4D97-AF65-F5344CB8AC3E}">
        <p14:creationId xmlns:p14="http://schemas.microsoft.com/office/powerpoint/2010/main" val="1950268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5"/>
          <p:cNvSpPr txBox="1"/>
          <p:nvPr/>
        </p:nvSpPr>
        <p:spPr>
          <a:xfrm>
            <a:off x="230457" y="580029"/>
            <a:ext cx="8894100" cy="32742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chemeClr val="tx1"/>
                </a:solidFill>
                <a:latin typeface="Google Sans"/>
                <a:ea typeface="Google Sans"/>
                <a:cs typeface="Google Sans"/>
                <a:sym typeface="Google Sans"/>
              </a:rPr>
              <a:t>Future </a:t>
            </a:r>
            <a:r>
              <a:rPr lang="en-GB" sz="1800" b="1" i="0" u="none" strike="noStrike" cap="none" dirty="0">
                <a:solidFill>
                  <a:schemeClr val="tx1"/>
                </a:solidFill>
                <a:latin typeface="Google Sans"/>
                <a:ea typeface="Google Sans"/>
                <a:cs typeface="Google Sans"/>
                <a:sym typeface="Google Sans"/>
              </a:rPr>
              <a:t>Development</a:t>
            </a:r>
            <a:endParaRPr sz="1800" b="1" i="0" u="none" strike="noStrike" cap="none" dirty="0">
              <a:solidFill>
                <a:schemeClr val="tx1"/>
              </a:solidFill>
              <a:latin typeface="Google Sans"/>
              <a:ea typeface="Google Sans"/>
              <a:cs typeface="Google Sans"/>
              <a:sym typeface="Google Sans"/>
            </a:endParaRPr>
          </a:p>
        </p:txBody>
      </p:sp>
      <p:pic>
        <p:nvPicPr>
          <p:cNvPr id="161" name="Google Shape;161;p35"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4" name="TextBox 3">
            <a:extLst>
              <a:ext uri="{FF2B5EF4-FFF2-40B4-BE49-F238E27FC236}">
                <a16:creationId xmlns:a16="http://schemas.microsoft.com/office/drawing/2014/main" id="{AD252CCA-94FA-411F-9FA9-CF420C9A7F88}"/>
              </a:ext>
            </a:extLst>
          </p:cNvPr>
          <p:cNvSpPr txBox="1"/>
          <p:nvPr/>
        </p:nvSpPr>
        <p:spPr>
          <a:xfrm>
            <a:off x="230457" y="1147151"/>
            <a:ext cx="8541835" cy="3693319"/>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Real-Time Job API Integration</a:t>
            </a:r>
            <a:r>
              <a:rPr lang="en-US" sz="1800" dirty="0">
                <a:latin typeface="Google Sans" panose="020B0604020202020204" charset="0"/>
                <a:ea typeface="Google Sans" panose="020B0604020202020204" charset="0"/>
                <a:cs typeface="Google Sans" panose="020B0604020202020204" charset="0"/>
              </a:rPr>
              <a:t>; Fetch live job openings from LinkedIn and Indeed.</a:t>
            </a:r>
          </a:p>
          <a:p>
            <a:pPr marL="285750" indent="-285750">
              <a:buFont typeface="Arial" panose="020B0604020202020204" pitchFamily="34" charset="0"/>
              <a:buChar char="•"/>
            </a:pPr>
            <a:endParaRPr lang="en-US" sz="1800" dirty="0">
              <a:latin typeface="Google Sans" panose="020B0604020202020204" charset="0"/>
              <a:ea typeface="Google Sans" panose="020B0604020202020204" charset="0"/>
              <a:cs typeface="Google Sans" panose="020B0604020202020204" charset="0"/>
            </a:endParaRPr>
          </a:p>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Firebase Authentication</a:t>
            </a:r>
            <a:r>
              <a:rPr lang="en-US" sz="1800" dirty="0">
                <a:latin typeface="Google Sans" panose="020B0604020202020204" charset="0"/>
                <a:ea typeface="Google Sans" panose="020B0604020202020204" charset="0"/>
                <a:cs typeface="Google Sans" panose="020B0604020202020204" charset="0"/>
              </a:rPr>
              <a:t>; Enable secure, scalable, production-grade user login.</a:t>
            </a:r>
          </a:p>
          <a:p>
            <a:pPr marL="285750" indent="-285750">
              <a:buFont typeface="Arial" panose="020B0604020202020204" pitchFamily="34" charset="0"/>
              <a:buChar char="•"/>
            </a:pPr>
            <a:endParaRPr lang="en-US" sz="1800" dirty="0">
              <a:latin typeface="Google Sans" panose="020B0604020202020204" charset="0"/>
              <a:ea typeface="Google Sans" panose="020B0604020202020204" charset="0"/>
              <a:cs typeface="Google Sans" panose="020B0604020202020204" charset="0"/>
            </a:endParaRPr>
          </a:p>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Cloud Database (Firestore)</a:t>
            </a:r>
            <a:r>
              <a:rPr lang="en-US" sz="1800" dirty="0">
                <a:latin typeface="Google Sans" panose="020B0604020202020204" charset="0"/>
                <a:ea typeface="Google Sans" panose="020B0604020202020204" charset="0"/>
                <a:cs typeface="Google Sans" panose="020B0604020202020204" charset="0"/>
              </a:rPr>
              <a:t>; Store and manage user data reliably in the cloud.</a:t>
            </a:r>
          </a:p>
          <a:p>
            <a:pPr marL="285750" indent="-285750">
              <a:buFont typeface="Arial" panose="020B0604020202020204" pitchFamily="34" charset="0"/>
              <a:buChar char="•"/>
            </a:pPr>
            <a:endParaRPr lang="en-US" sz="1800" dirty="0">
              <a:latin typeface="Google Sans" panose="020B0604020202020204" charset="0"/>
              <a:ea typeface="Google Sans" panose="020B0604020202020204" charset="0"/>
              <a:cs typeface="Google Sans" panose="020B0604020202020204" charset="0"/>
            </a:endParaRPr>
          </a:p>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Resume Versioning</a:t>
            </a:r>
            <a:r>
              <a:rPr lang="en-US" sz="1800" dirty="0">
                <a:latin typeface="Google Sans" panose="020B0604020202020204" charset="0"/>
                <a:ea typeface="Google Sans" panose="020B0604020202020204" charset="0"/>
                <a:cs typeface="Google Sans" panose="020B0604020202020204" charset="0"/>
              </a:rPr>
              <a:t>; Track, compare, and improve multiple resume versions.</a:t>
            </a:r>
          </a:p>
          <a:p>
            <a:pPr marL="285750" indent="-285750">
              <a:buFont typeface="Arial" panose="020B0604020202020204" pitchFamily="34" charset="0"/>
              <a:buChar char="•"/>
            </a:pPr>
            <a:endParaRPr lang="en-US" sz="1800" dirty="0">
              <a:latin typeface="Google Sans" panose="020B0604020202020204" charset="0"/>
              <a:ea typeface="Google Sans" panose="020B0604020202020204" charset="0"/>
              <a:cs typeface="Google Sans" panose="020B0604020202020204" charset="0"/>
            </a:endParaRPr>
          </a:p>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Career Progress Analytics</a:t>
            </a:r>
            <a:r>
              <a:rPr lang="en-US" sz="1800" dirty="0">
                <a:latin typeface="Google Sans" panose="020B0604020202020204" charset="0"/>
                <a:ea typeface="Google Sans" panose="020B0604020202020204" charset="0"/>
                <a:cs typeface="Google Sans" panose="020B0604020202020204" charset="0"/>
              </a:rPr>
              <a:t>; Visualize skill growth and readiness over time.</a:t>
            </a:r>
          </a:p>
          <a:p>
            <a:pPr marL="285750" indent="-285750">
              <a:buFont typeface="Arial" panose="020B0604020202020204" pitchFamily="34" charset="0"/>
              <a:buChar char="•"/>
            </a:pPr>
            <a:endParaRPr lang="en-US" sz="1800" dirty="0">
              <a:latin typeface="Google Sans" panose="020B0604020202020204" charset="0"/>
              <a:ea typeface="Google Sans" panose="020B0604020202020204" charset="0"/>
              <a:cs typeface="Google Sans" panose="020B0604020202020204" charset="0"/>
            </a:endParaRPr>
          </a:p>
          <a:p>
            <a:pPr marL="285750" indent="-285750">
              <a:buFont typeface="Arial" panose="020B0604020202020204" pitchFamily="34" charset="0"/>
              <a:buChar char="•"/>
            </a:pPr>
            <a:r>
              <a:rPr lang="en-US" sz="1800" b="1" dirty="0">
                <a:latin typeface="Google Sans" panose="020B0604020202020204" charset="0"/>
                <a:ea typeface="Google Sans" panose="020B0604020202020204" charset="0"/>
                <a:cs typeface="Google Sans" panose="020B0604020202020204" charset="0"/>
              </a:rPr>
              <a:t>Multi-Language Support</a:t>
            </a:r>
            <a:r>
              <a:rPr lang="en-US" sz="1800" dirty="0">
                <a:latin typeface="Google Sans" panose="020B0604020202020204" charset="0"/>
                <a:ea typeface="Google Sans" panose="020B0604020202020204" charset="0"/>
                <a:cs typeface="Google Sans" panose="020B0604020202020204" charset="0"/>
              </a:rPr>
              <a:t>; Expand accessibility for users across regions.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a:hlinkClick r:id="rId3" action="ppaction://hlinkpres?slideindex=1&amp;slidetitle="/>
          </p:cNvPr>
          <p:cNvSpPr txBox="1"/>
          <p:nvPr/>
        </p:nvSpPr>
        <p:spPr>
          <a:xfrm>
            <a:off x="146600" y="842999"/>
            <a:ext cx="8833200" cy="187789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tx1"/>
                </a:solidFill>
                <a:latin typeface="Google Sans"/>
                <a:ea typeface="Google Sans"/>
                <a:cs typeface="Google Sans"/>
                <a:sym typeface="Google Sans"/>
              </a:rPr>
              <a:t>Provide links to your:</a:t>
            </a:r>
            <a:endParaRPr sz="1800" b="1" i="0" u="none" strike="noStrike" cap="none" dirty="0">
              <a:solidFill>
                <a:schemeClr val="tx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chemeClr val="tx1"/>
                </a:solidFill>
                <a:latin typeface="Google Sans"/>
                <a:ea typeface="Google Sans"/>
                <a:cs typeface="Google Sans"/>
                <a:sym typeface="Google Sans"/>
              </a:rPr>
              <a:t>GitHub Public Repository</a:t>
            </a:r>
            <a:r>
              <a:rPr lang="en-GB" sz="1800" b="1" dirty="0">
                <a:solidFill>
                  <a:schemeClr val="tx1"/>
                </a:solidFill>
                <a:latin typeface="Google Sans"/>
                <a:ea typeface="Google Sans"/>
                <a:cs typeface="Google Sans"/>
                <a:sym typeface="Google Sans"/>
              </a:rPr>
              <a:t>: </a:t>
            </a:r>
            <a:r>
              <a:rPr lang="en-GB" sz="1800" dirty="0">
                <a:solidFill>
                  <a:srgbClr val="434343"/>
                </a:solidFill>
                <a:latin typeface="Google Sans"/>
                <a:ea typeface="Google Sans"/>
                <a:cs typeface="Google Sans"/>
                <a:sym typeface="Google Sans"/>
                <a:hlinkClick r:id="rId4"/>
              </a:rPr>
              <a:t>https://github.com/rithvik0906/CareerForge</a:t>
            </a:r>
            <a:endParaRPr sz="1800" u="none" strike="noStrike" cap="none"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chemeClr val="tx1"/>
                </a:solidFill>
                <a:latin typeface="Google Sans"/>
                <a:ea typeface="Google Sans"/>
                <a:cs typeface="Google Sans"/>
                <a:sym typeface="Google Sans"/>
              </a:rPr>
              <a:t>MVP Link</a:t>
            </a:r>
            <a:r>
              <a:rPr lang="en-GB" sz="1800" b="1" dirty="0">
                <a:solidFill>
                  <a:schemeClr val="tx1"/>
                </a:solidFill>
                <a:latin typeface="Google Sans"/>
                <a:ea typeface="Google Sans"/>
                <a:cs typeface="Google Sans"/>
                <a:sym typeface="Google Sans"/>
              </a:rPr>
              <a:t>: </a:t>
            </a:r>
            <a:r>
              <a:rPr lang="en-GB" sz="1800" dirty="0">
                <a:solidFill>
                  <a:srgbClr val="434343"/>
                </a:solidFill>
                <a:latin typeface="Google Sans"/>
                <a:ea typeface="Google Sans"/>
                <a:cs typeface="Google Sans"/>
                <a:sym typeface="Google Sans"/>
                <a:hlinkClick r:id="rId5"/>
              </a:rPr>
              <a:t>https://career-forge-pi.vercel.app/</a:t>
            </a:r>
            <a:endParaRPr lang="en-GB" sz="1800"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chemeClr val="tx1"/>
                </a:solidFill>
                <a:latin typeface="Google Sans"/>
                <a:ea typeface="Google Sans"/>
                <a:cs typeface="Google Sans"/>
                <a:sym typeface="Google Sans"/>
              </a:rPr>
              <a:t>Demo Video Li</a:t>
            </a:r>
            <a:r>
              <a:rPr lang="en-GB" sz="1800" b="1" dirty="0">
                <a:solidFill>
                  <a:schemeClr val="tx1"/>
                </a:solidFill>
                <a:latin typeface="Google Sans"/>
                <a:ea typeface="Google Sans"/>
                <a:cs typeface="Google Sans"/>
                <a:sym typeface="Google Sans"/>
              </a:rPr>
              <a:t>nk: </a:t>
            </a:r>
            <a:r>
              <a:rPr lang="en-GB" sz="1800" dirty="0">
                <a:solidFill>
                  <a:srgbClr val="434343"/>
                </a:solidFill>
                <a:latin typeface="Google Sans"/>
                <a:ea typeface="Google Sans"/>
                <a:cs typeface="Google Sans"/>
                <a:sym typeface="Google Sans"/>
                <a:hlinkClick r:id="rId6"/>
              </a:rPr>
              <a:t>https://drive.google.com/file/d/1M53s-GIzK7CcC3uDiUkDNBBy5ZfkuBYh/</a:t>
            </a:r>
            <a:endParaRPr lang="en-IN" sz="1800" i="0" u="none" strike="noStrike" cap="none" dirty="0">
              <a:solidFill>
                <a:srgbClr val="434343"/>
              </a:solidFill>
              <a:latin typeface="Google Sans"/>
              <a:ea typeface="Google Sans"/>
              <a:cs typeface="Google Sans"/>
              <a:sym typeface="Google Sans"/>
            </a:endParaRPr>
          </a:p>
        </p:txBody>
      </p:sp>
      <p:pic>
        <p:nvPicPr>
          <p:cNvPr id="167" name="Google Shape;167;p36" title="Group 2200185.png"/>
          <p:cNvPicPr preferRelativeResize="0"/>
          <p:nvPr/>
        </p:nvPicPr>
        <p:blipFill>
          <a:blip r:embed="rId7">
            <a:alphaModFix/>
          </a:blip>
          <a:stretch>
            <a:fillRect/>
          </a:stretch>
        </p:blipFill>
        <p:spPr>
          <a:xfrm>
            <a:off x="159800" y="174175"/>
            <a:ext cx="1826526" cy="327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78" name="Google Shape;178;p3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79" name="Google Shape;179;p38" title="tq slide techsprint.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80" name="Google Shape;180;p38"/>
          <p:cNvSpPr txBox="1"/>
          <p:nvPr/>
        </p:nvSpPr>
        <p:spPr>
          <a:xfrm>
            <a:off x="343275" y="3962950"/>
            <a:ext cx="3712800" cy="93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4900" b="1">
                <a:solidFill>
                  <a:schemeClr val="dk1"/>
                </a:solidFill>
                <a:latin typeface="Google Sans"/>
                <a:ea typeface="Google Sans"/>
                <a:cs typeface="Google Sans"/>
                <a:sym typeface="Google Sans"/>
              </a:rPr>
              <a:t>Thank you!</a:t>
            </a:r>
            <a:endParaRPr sz="45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771</Words>
  <Application>Microsoft Office PowerPoint</Application>
  <PresentationFormat>On-screen Show (16:9)</PresentationFormat>
  <Paragraphs>56</Paragraphs>
  <Slides>13</Slides>
  <Notes>11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13</vt:i4>
      </vt:variant>
    </vt:vector>
  </HeadingPairs>
  <TitlesOfParts>
    <vt:vector size="17"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koushik reddy</dc:creator>
  <cp:lastModifiedBy>Rithvik Goud Mushkam</cp:lastModifiedBy>
  <cp:revision>4</cp:revision>
  <dcterms:modified xsi:type="dcterms:W3CDTF">2026-02-14T17:09:02Z</dcterms:modified>
</cp:coreProperties>
</file>